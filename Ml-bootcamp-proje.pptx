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82"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604DF3A0-81BF-4128-A259-36D13894E8C1}" type="datetimeFigureOut">
              <a:rPr lang="tr-TR" smtClean="0"/>
              <a:t>3.01.2026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0E58868-79C6-4AA0-B2CB-76ADB5F6BF33}" type="slidenum">
              <a:rPr lang="tr-TR" smtClean="0"/>
              <a:t>‹#›</a:t>
            </a:fld>
            <a:endParaRPr lang="tr-T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1231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04DF3A0-81BF-4128-A259-36D13894E8C1}" type="datetimeFigureOut">
              <a:rPr lang="tr-TR" smtClean="0"/>
              <a:t>3.01.2026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0E58868-79C6-4AA0-B2CB-76ADB5F6BF33}" type="slidenum">
              <a:rPr lang="tr-TR" smtClean="0"/>
              <a:t>‹#›</a:t>
            </a:fld>
            <a:endParaRPr lang="tr-TR"/>
          </a:p>
        </p:txBody>
      </p:sp>
    </p:spTree>
    <p:extLst>
      <p:ext uri="{BB962C8B-B14F-4D97-AF65-F5344CB8AC3E}">
        <p14:creationId xmlns:p14="http://schemas.microsoft.com/office/powerpoint/2010/main" val="2595329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04DF3A0-81BF-4128-A259-36D13894E8C1}" type="datetimeFigureOut">
              <a:rPr lang="tr-TR" smtClean="0"/>
              <a:t>3.01.2026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0E58868-79C6-4AA0-B2CB-76ADB5F6BF33}" type="slidenum">
              <a:rPr lang="tr-TR" smtClean="0"/>
              <a:t>‹#›</a:t>
            </a:fld>
            <a:endParaRPr lang="tr-T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7078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604DF3A0-81BF-4128-A259-36D13894E8C1}" type="datetimeFigureOut">
              <a:rPr lang="tr-TR" smtClean="0"/>
              <a:t>3.01.2026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0E58868-79C6-4AA0-B2CB-76ADB5F6BF33}" type="slidenum">
              <a:rPr lang="tr-TR" smtClean="0"/>
              <a:t>‹#›</a:t>
            </a:fld>
            <a:endParaRPr lang="tr-TR"/>
          </a:p>
        </p:txBody>
      </p:sp>
    </p:spTree>
    <p:extLst>
      <p:ext uri="{BB962C8B-B14F-4D97-AF65-F5344CB8AC3E}">
        <p14:creationId xmlns:p14="http://schemas.microsoft.com/office/powerpoint/2010/main" val="4114452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97280" y="2582334"/>
            <a:ext cx="4937760" cy="33782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17920" y="2582334"/>
            <a:ext cx="4937760" cy="33782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604DF3A0-81BF-4128-A259-36D13894E8C1}" type="datetimeFigureOut">
              <a:rPr lang="tr-TR" smtClean="0"/>
              <a:t>3.01.2026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80E58868-79C6-4AA0-B2CB-76ADB5F6BF33}" type="slidenum">
              <a:rPr lang="tr-TR" smtClean="0"/>
              <a:t>‹#›</a:t>
            </a:fld>
            <a:endParaRPr lang="tr-TR"/>
          </a:p>
        </p:txBody>
      </p:sp>
    </p:spTree>
    <p:extLst>
      <p:ext uri="{BB962C8B-B14F-4D97-AF65-F5344CB8AC3E}">
        <p14:creationId xmlns:p14="http://schemas.microsoft.com/office/powerpoint/2010/main" val="4196062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604DF3A0-81BF-4128-A259-36D13894E8C1}" type="datetimeFigureOut">
              <a:rPr lang="tr-TR" smtClean="0"/>
              <a:t>3.01.2026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80E58868-79C6-4AA0-B2CB-76ADB5F6BF33}" type="slidenum">
              <a:rPr lang="tr-TR" smtClean="0"/>
              <a:t>‹#›</a:t>
            </a:fld>
            <a:endParaRPr lang="tr-TR"/>
          </a:p>
        </p:txBody>
      </p:sp>
    </p:spTree>
    <p:extLst>
      <p:ext uri="{BB962C8B-B14F-4D97-AF65-F5344CB8AC3E}">
        <p14:creationId xmlns:p14="http://schemas.microsoft.com/office/powerpoint/2010/main" val="561134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7" name="Date Placeholder 6"/>
          <p:cNvSpPr>
            <a:spLocks noGrp="1"/>
          </p:cNvSpPr>
          <p:nvPr>
            <p:ph type="dt" sz="half" idx="10"/>
          </p:nvPr>
        </p:nvSpPr>
        <p:spPr/>
        <p:txBody>
          <a:bodyPr/>
          <a:lstStyle/>
          <a:p>
            <a:fld id="{604DF3A0-81BF-4128-A259-36D13894E8C1}" type="datetimeFigureOut">
              <a:rPr lang="tr-TR" smtClean="0"/>
              <a:t>3.01.2026</a:t>
            </a:fld>
            <a:endParaRPr lang="tr-T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tr-TR"/>
          </a:p>
        </p:txBody>
      </p:sp>
      <p:sp>
        <p:nvSpPr>
          <p:cNvPr id="9" name="Slide Number Placeholder 8"/>
          <p:cNvSpPr>
            <a:spLocks noGrp="1"/>
          </p:cNvSpPr>
          <p:nvPr>
            <p:ph type="sldNum" sz="quarter" idx="12"/>
          </p:nvPr>
        </p:nvSpPr>
        <p:spPr/>
        <p:txBody>
          <a:bodyPr/>
          <a:lstStyle/>
          <a:p>
            <a:fld id="{80E58868-79C6-4AA0-B2CB-76ADB5F6BF33}" type="slidenum">
              <a:rPr lang="tr-TR" smtClean="0"/>
              <a:t>‹#›</a:t>
            </a:fld>
            <a:endParaRPr lang="tr-TR"/>
          </a:p>
        </p:txBody>
      </p:sp>
    </p:spTree>
    <p:extLst>
      <p:ext uri="{BB962C8B-B14F-4D97-AF65-F5344CB8AC3E}">
        <p14:creationId xmlns:p14="http://schemas.microsoft.com/office/powerpoint/2010/main" val="1394455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04DF3A0-81BF-4128-A259-36D13894E8C1}" type="datetimeFigureOut">
              <a:rPr lang="tr-TR" smtClean="0"/>
              <a:t>3.01.2026</a:t>
            </a:fld>
            <a:endParaRPr lang="tr-T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tr-T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0E58868-79C6-4AA0-B2CB-76ADB5F6BF33}" type="slidenum">
              <a:rPr lang="tr-TR" smtClean="0"/>
              <a:t>‹#›</a:t>
            </a:fld>
            <a:endParaRPr lang="tr-TR"/>
          </a:p>
        </p:txBody>
      </p:sp>
    </p:spTree>
    <p:extLst>
      <p:ext uri="{BB962C8B-B14F-4D97-AF65-F5344CB8AC3E}">
        <p14:creationId xmlns:p14="http://schemas.microsoft.com/office/powerpoint/2010/main" val="1972198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04DF3A0-81BF-4128-A259-36D13894E8C1}" type="datetimeFigureOut">
              <a:rPr lang="tr-TR" smtClean="0"/>
              <a:t>3.01.2026</a:t>
            </a:fld>
            <a:endParaRPr lang="tr-T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0E58868-79C6-4AA0-B2CB-76ADB5F6BF33}" type="slidenum">
              <a:rPr lang="tr-TR" smtClean="0"/>
              <a:t>‹#›</a:t>
            </a:fld>
            <a:endParaRPr lang="tr-TR"/>
          </a:p>
        </p:txBody>
      </p:sp>
    </p:spTree>
    <p:extLst>
      <p:ext uri="{BB962C8B-B14F-4D97-AF65-F5344CB8AC3E}">
        <p14:creationId xmlns:p14="http://schemas.microsoft.com/office/powerpoint/2010/main" val="4145631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04DF3A0-81BF-4128-A259-36D13894E8C1}" type="datetimeFigureOut">
              <a:rPr lang="tr-TR" smtClean="0"/>
              <a:t>3.01.2026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0E58868-79C6-4AA0-B2CB-76ADB5F6BF33}" type="slidenum">
              <a:rPr lang="tr-TR" smtClean="0"/>
              <a:t>‹#›</a:t>
            </a:fld>
            <a:endParaRPr lang="tr-TR"/>
          </a:p>
        </p:txBody>
      </p:sp>
    </p:spTree>
    <p:extLst>
      <p:ext uri="{BB962C8B-B14F-4D97-AF65-F5344CB8AC3E}">
        <p14:creationId xmlns:p14="http://schemas.microsoft.com/office/powerpoint/2010/main" val="85787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Vertical Title 1"/>
          <p:cNvSpPr>
            <a:spLocks noGrp="1"/>
          </p:cNvSpPr>
          <p:nvPr>
            <p:ph type="title" orient="vert"/>
          </p:nvPr>
        </p:nvSpPr>
        <p:spPr>
          <a:xfrm>
            <a:off x="8724900" y="414778"/>
            <a:ext cx="2628900" cy="5757421"/>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04DF3A0-81BF-4128-A259-36D13894E8C1}" type="datetimeFigureOut">
              <a:rPr lang="tr-TR" smtClean="0"/>
              <a:t>3.01.2026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0E58868-79C6-4AA0-B2CB-76ADB5F6BF33}" type="slidenum">
              <a:rPr lang="tr-TR" smtClean="0"/>
              <a:t>‹#›</a:t>
            </a:fld>
            <a:endParaRPr lang="tr-TR"/>
          </a:p>
        </p:txBody>
      </p:sp>
    </p:spTree>
    <p:extLst>
      <p:ext uri="{BB962C8B-B14F-4D97-AF65-F5344CB8AC3E}">
        <p14:creationId xmlns:p14="http://schemas.microsoft.com/office/powerpoint/2010/main" val="1665503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04DF3A0-81BF-4128-A259-36D13894E8C1}" type="datetimeFigureOut">
              <a:rPr lang="tr-TR" smtClean="0"/>
              <a:t>3.01.2026</a:t>
            </a:fld>
            <a:endParaRPr lang="tr-T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tr-T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0E58868-79C6-4AA0-B2CB-76ADB5F6BF33}" type="slidenum">
              <a:rPr lang="tr-TR" smtClean="0"/>
              <a:t>‹#›</a:t>
            </a:fld>
            <a:endParaRPr lang="tr-T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3350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07849A7-3F35-D8B9-9910-EB595144CEAB}"/>
              </a:ext>
            </a:extLst>
          </p:cNvPr>
          <p:cNvSpPr>
            <a:spLocks noGrp="1"/>
          </p:cNvSpPr>
          <p:nvPr>
            <p:ph type="ctrTitle"/>
          </p:nvPr>
        </p:nvSpPr>
        <p:spPr>
          <a:xfrm>
            <a:off x="2667785" y="254001"/>
            <a:ext cx="6801335" cy="4338320"/>
          </a:xfrm>
        </p:spPr>
        <p:txBody>
          <a:bodyPr>
            <a:noAutofit/>
          </a:bodyPr>
          <a:lstStyle/>
          <a:p>
            <a:r>
              <a:rPr lang="tr-TR" sz="8000" dirty="0"/>
              <a:t>2030 Yapay Zeka</a:t>
            </a:r>
            <a:br>
              <a:rPr lang="tr-TR" sz="8000" dirty="0"/>
            </a:br>
            <a:r>
              <a:rPr lang="tr-TR" sz="8000" dirty="0"/>
              <a:t> Otomasyon</a:t>
            </a:r>
            <a:br>
              <a:rPr lang="tr-TR" sz="8000" dirty="0"/>
            </a:br>
            <a:r>
              <a:rPr lang="tr-TR" sz="8000" dirty="0"/>
              <a:t>ve Risk Haritası</a:t>
            </a:r>
            <a:br>
              <a:rPr lang="tr-TR" sz="8000" dirty="0"/>
            </a:br>
            <a:endParaRPr lang="tr-TR" sz="8000" dirty="0"/>
          </a:p>
        </p:txBody>
      </p:sp>
      <p:sp>
        <p:nvSpPr>
          <p:cNvPr id="3" name="Alt Başlık 2">
            <a:extLst>
              <a:ext uri="{FF2B5EF4-FFF2-40B4-BE49-F238E27FC236}">
                <a16:creationId xmlns:a16="http://schemas.microsoft.com/office/drawing/2014/main" id="{3DE16F40-6251-AC76-C2C7-59C3234AFD39}"/>
              </a:ext>
            </a:extLst>
          </p:cNvPr>
          <p:cNvSpPr>
            <a:spLocks noGrp="1"/>
          </p:cNvSpPr>
          <p:nvPr>
            <p:ph type="subTitle" idx="1"/>
          </p:nvPr>
        </p:nvSpPr>
        <p:spPr/>
        <p:txBody>
          <a:bodyPr>
            <a:normAutofit fontScale="85000" lnSpcReduction="20000"/>
          </a:bodyPr>
          <a:lstStyle/>
          <a:p>
            <a:r>
              <a:rPr lang="tr-TR" b="1" dirty="0"/>
              <a:t>Hazırlayan</a:t>
            </a:r>
          </a:p>
          <a:p>
            <a:r>
              <a:rPr lang="tr-TR" dirty="0"/>
              <a:t>Yusuf Baran YILDIZ</a:t>
            </a:r>
          </a:p>
          <a:p>
            <a:r>
              <a:rPr lang="tr-TR" dirty="0"/>
              <a:t>yusufbarany1@gmail.com</a:t>
            </a:r>
          </a:p>
        </p:txBody>
      </p:sp>
    </p:spTree>
    <p:extLst>
      <p:ext uri="{BB962C8B-B14F-4D97-AF65-F5344CB8AC3E}">
        <p14:creationId xmlns:p14="http://schemas.microsoft.com/office/powerpoint/2010/main" val="4240219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BBCD37E-F883-39AE-9BD1-654E53EE1E15}"/>
              </a:ext>
            </a:extLst>
          </p:cNvPr>
          <p:cNvSpPr>
            <a:spLocks noGrp="1"/>
          </p:cNvSpPr>
          <p:nvPr>
            <p:ph type="title"/>
          </p:nvPr>
        </p:nvSpPr>
        <p:spPr/>
        <p:txBody>
          <a:bodyPr>
            <a:noAutofit/>
          </a:bodyPr>
          <a:lstStyle/>
          <a:p>
            <a:r>
              <a:rPr lang="tr-TR" sz="3600" dirty="0">
                <a:solidFill>
                  <a:schemeClr val="tx1"/>
                </a:solidFill>
                <a:latin typeface="Lucida Sans" panose="020B0602030504020204" pitchFamily="34" charset="0"/>
              </a:rPr>
              <a:t>Analitik </a:t>
            </a:r>
            <a:r>
              <a:rPr lang="tr-TR" sz="3600" dirty="0" err="1">
                <a:solidFill>
                  <a:schemeClr val="tx1"/>
                </a:solidFill>
                <a:latin typeface="Lucida Sans" panose="020B0602030504020204" pitchFamily="34" charset="0"/>
              </a:rPr>
              <a:t>Yaklaşımımız:</a:t>
            </a:r>
            <a:r>
              <a:rPr lang="tr-TR" sz="3600" b="1" dirty="0" err="1">
                <a:solidFill>
                  <a:schemeClr val="tx1"/>
                </a:solidFill>
                <a:latin typeface="Lucida Sans" panose="020B0602030504020204" pitchFamily="34" charset="0"/>
              </a:rPr>
              <a:t>CRISP</a:t>
            </a:r>
            <a:r>
              <a:rPr lang="tr-TR" sz="3600" b="1" dirty="0">
                <a:solidFill>
                  <a:schemeClr val="tx1"/>
                </a:solidFill>
                <a:latin typeface="Lucida Sans" panose="020B0602030504020204" pitchFamily="34" charset="0"/>
              </a:rPr>
              <a:t> DM</a:t>
            </a:r>
            <a:br>
              <a:rPr lang="tr-TR" b="1" dirty="0">
                <a:solidFill>
                  <a:schemeClr val="tx1"/>
                </a:solidFill>
              </a:rPr>
            </a:br>
            <a:endParaRPr lang="tr-TR" sz="2400" dirty="0">
              <a:solidFill>
                <a:schemeClr val="tx1"/>
              </a:solidFill>
            </a:endParaRPr>
          </a:p>
        </p:txBody>
      </p:sp>
      <p:pic>
        <p:nvPicPr>
          <p:cNvPr id="5" name="İçerik Yer Tutucusu 4">
            <a:extLst>
              <a:ext uri="{FF2B5EF4-FFF2-40B4-BE49-F238E27FC236}">
                <a16:creationId xmlns:a16="http://schemas.microsoft.com/office/drawing/2014/main" id="{23178A50-0115-9D90-4CD4-D2CEAB249552}"/>
              </a:ext>
            </a:extLst>
          </p:cNvPr>
          <p:cNvPicPr>
            <a:picLocks noGrp="1" noChangeAspect="1"/>
          </p:cNvPicPr>
          <p:nvPr>
            <p:ph idx="1"/>
          </p:nvPr>
        </p:nvPicPr>
        <p:blipFill>
          <a:blip r:embed="rId2"/>
          <a:stretch>
            <a:fillRect/>
          </a:stretch>
        </p:blipFill>
        <p:spPr>
          <a:xfrm>
            <a:off x="537327" y="2941162"/>
            <a:ext cx="10392193" cy="2234153"/>
          </a:xfrm>
          <a:prstGeom prst="rect">
            <a:avLst/>
          </a:prstGeom>
        </p:spPr>
      </p:pic>
      <p:sp>
        <p:nvSpPr>
          <p:cNvPr id="6" name="Metin kutusu 5">
            <a:extLst>
              <a:ext uri="{FF2B5EF4-FFF2-40B4-BE49-F238E27FC236}">
                <a16:creationId xmlns:a16="http://schemas.microsoft.com/office/drawing/2014/main" id="{BD4BF36F-3E78-E22B-175B-FD8B208DEC04}"/>
              </a:ext>
            </a:extLst>
          </p:cNvPr>
          <p:cNvSpPr txBox="1"/>
          <p:nvPr/>
        </p:nvSpPr>
        <p:spPr>
          <a:xfrm>
            <a:off x="838200" y="2045616"/>
            <a:ext cx="10392193" cy="646331"/>
          </a:xfrm>
          <a:prstGeom prst="rect">
            <a:avLst/>
          </a:prstGeom>
          <a:noFill/>
        </p:spPr>
        <p:txBody>
          <a:bodyPr wrap="square" rtlCol="0">
            <a:spAutoFit/>
          </a:bodyPr>
          <a:lstStyle/>
          <a:p>
            <a:r>
              <a:rPr lang="tr-TR"/>
              <a:t>YolSonuçlarımızın temelinde, sektör standardı bir veri bilimi metodolojisi yatmaktadır. Bu 6 adımlık süreç, sorunundoğru tanımlanmasından, güvenilir bir tahmin modelinin oluşturulmasına kadar tüm aşamaları kapsar.</a:t>
            </a:r>
            <a:endParaRPr lang="tr-TR" dirty="0"/>
          </a:p>
        </p:txBody>
      </p:sp>
    </p:spTree>
    <p:extLst>
      <p:ext uri="{BB962C8B-B14F-4D97-AF65-F5344CB8AC3E}">
        <p14:creationId xmlns:p14="http://schemas.microsoft.com/office/powerpoint/2010/main" val="754681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A07337E-4CB8-AD3F-4643-283BE2431B6A}"/>
              </a:ext>
            </a:extLst>
          </p:cNvPr>
          <p:cNvSpPr>
            <a:spLocks noGrp="1"/>
          </p:cNvSpPr>
          <p:nvPr>
            <p:ph type="title"/>
          </p:nvPr>
        </p:nvSpPr>
        <p:spPr/>
        <p:txBody>
          <a:bodyPr>
            <a:normAutofit/>
          </a:bodyPr>
          <a:lstStyle/>
          <a:p>
            <a:r>
              <a:rPr lang="tr-TR" dirty="0">
                <a:latin typeface="Lucida Sans" panose="020B0602030504020204" pitchFamily="34" charset="0"/>
              </a:rPr>
              <a:t>1</a:t>
            </a:r>
            <a:r>
              <a:rPr lang="tr-TR" dirty="0">
                <a:solidFill>
                  <a:schemeClr val="tx1"/>
                </a:solidFill>
                <a:latin typeface="Lucida Sans" panose="020B0602030504020204" pitchFamily="34" charset="0"/>
              </a:rPr>
              <a:t>. Adım: İş Anlayışı</a:t>
            </a:r>
          </a:p>
        </p:txBody>
      </p:sp>
      <p:sp>
        <p:nvSpPr>
          <p:cNvPr id="3" name="İçerik Yer Tutucusu 2">
            <a:extLst>
              <a:ext uri="{FF2B5EF4-FFF2-40B4-BE49-F238E27FC236}">
                <a16:creationId xmlns:a16="http://schemas.microsoft.com/office/drawing/2014/main" id="{D4025D79-3498-04CD-A91F-A77490D89A43}"/>
              </a:ext>
            </a:extLst>
          </p:cNvPr>
          <p:cNvSpPr>
            <a:spLocks noGrp="1"/>
          </p:cNvSpPr>
          <p:nvPr>
            <p:ph idx="1"/>
          </p:nvPr>
        </p:nvSpPr>
        <p:spPr/>
        <p:txBody>
          <a:bodyPr/>
          <a:lstStyle/>
          <a:p>
            <a:pPr marL="0" indent="0">
              <a:buNone/>
            </a:pPr>
            <a:r>
              <a:rPr lang="tr-TR" dirty="0"/>
              <a:t>Bu çalışmada, farklı mesleklerin 2030 yılına kadar</a:t>
            </a:r>
          </a:p>
          <a:p>
            <a:pPr marL="0" indent="0">
              <a:buNone/>
            </a:pPr>
            <a:r>
              <a:rPr lang="tr-TR" dirty="0"/>
              <a:t>yapay zekâ ve otomasyon karşısındaki risk seviyeleri analiz edilmiştir.</a:t>
            </a:r>
          </a:p>
          <a:p>
            <a:pPr marL="0" indent="0">
              <a:buNone/>
            </a:pPr>
            <a:endParaRPr lang="tr-TR" dirty="0"/>
          </a:p>
          <a:p>
            <a:pPr marL="0" indent="0">
              <a:buNone/>
            </a:pPr>
            <a:r>
              <a:rPr lang="tr-TR" dirty="0"/>
              <a:t>Amaç:</a:t>
            </a:r>
          </a:p>
          <a:p>
            <a:pPr marL="0" indent="0">
              <a:buNone/>
            </a:pPr>
            <a:r>
              <a:rPr lang="tr-TR" dirty="0"/>
              <a:t>Mesleklerin otomasyona uğrama olasılığını etkileyen faktörleri incelemek</a:t>
            </a:r>
          </a:p>
          <a:p>
            <a:pPr marL="0" indent="0">
              <a:buNone/>
            </a:pPr>
            <a:r>
              <a:rPr lang="tr-TR" dirty="0"/>
              <a:t>ve bu olasılığı makine öğrenmesi modeli ile tahmin etmektir.</a:t>
            </a:r>
          </a:p>
        </p:txBody>
      </p:sp>
    </p:spTree>
    <p:extLst>
      <p:ext uri="{BB962C8B-B14F-4D97-AF65-F5344CB8AC3E}">
        <p14:creationId xmlns:p14="http://schemas.microsoft.com/office/powerpoint/2010/main" val="1492650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7E39CD4-178A-961A-C520-634DCED81FE5}"/>
              </a:ext>
            </a:extLst>
          </p:cNvPr>
          <p:cNvSpPr>
            <a:spLocks noGrp="1"/>
          </p:cNvSpPr>
          <p:nvPr>
            <p:ph type="title"/>
          </p:nvPr>
        </p:nvSpPr>
        <p:spPr>
          <a:xfrm>
            <a:off x="1061720" y="761366"/>
            <a:ext cx="10515600" cy="1045000"/>
          </a:xfrm>
        </p:spPr>
        <p:txBody>
          <a:bodyPr>
            <a:normAutofit/>
          </a:bodyPr>
          <a:lstStyle/>
          <a:p>
            <a:r>
              <a:rPr lang="tr-TR" dirty="0"/>
              <a:t>2.Adım:Veri Anlayışı</a:t>
            </a:r>
          </a:p>
        </p:txBody>
      </p:sp>
      <p:sp>
        <p:nvSpPr>
          <p:cNvPr id="10" name="Metin kutusu 9">
            <a:extLst>
              <a:ext uri="{FF2B5EF4-FFF2-40B4-BE49-F238E27FC236}">
                <a16:creationId xmlns:a16="http://schemas.microsoft.com/office/drawing/2014/main" id="{EF5EE12D-6C58-7FBB-B299-3FEE9500CD71}"/>
              </a:ext>
            </a:extLst>
          </p:cNvPr>
          <p:cNvSpPr txBox="1"/>
          <p:nvPr/>
        </p:nvSpPr>
        <p:spPr>
          <a:xfrm>
            <a:off x="585246" y="2217771"/>
            <a:ext cx="10515599" cy="3139321"/>
          </a:xfrm>
          <a:prstGeom prst="rect">
            <a:avLst/>
          </a:prstGeom>
          <a:noFill/>
        </p:spPr>
        <p:txBody>
          <a:bodyPr wrap="square" rtlCol="0">
            <a:spAutoFit/>
          </a:bodyPr>
          <a:lstStyle/>
          <a:p>
            <a:r>
              <a:rPr lang="tr-TR" dirty="0"/>
              <a:t>Veriyi daha iyi anlamak için veri setindeki sütunları Türkçeye çevirdim ve sütunların daha anlaşılabilir olması için ne anlama geldiği ve neyi temsil ettiklerini açıkladım.</a:t>
            </a:r>
          </a:p>
          <a:p>
            <a:endParaRPr lang="tr-TR" dirty="0"/>
          </a:p>
          <a:p>
            <a:r>
              <a:rPr lang="tr-TR" dirty="0"/>
              <a:t>Bu metrikler bir mesleğin teknolojiyle entegrasyonunu, sektör dinamiklerini, gerektirdiği beceri yoğunluğunu ve otomasyon riskini bütüncül olarak değerlendirmek için tasarlanmıştır. </a:t>
            </a:r>
            <a:r>
              <a:rPr lang="tr-TR" b="1" dirty="0" err="1"/>
              <a:t>Ai_Maruziyeti</a:t>
            </a:r>
            <a:r>
              <a:rPr lang="tr-TR" dirty="0"/>
              <a:t> (0-1), mesleğin yapay zeka ile temas derecesini gösterir. </a:t>
            </a:r>
            <a:r>
              <a:rPr lang="tr-TR" b="1" dirty="0" err="1"/>
              <a:t>Teknolojik_Büyüme</a:t>
            </a:r>
            <a:r>
              <a:rPr lang="tr-TR" dirty="0"/>
              <a:t>, bağlı olduğu alanın gelişim hızını yansıtır. </a:t>
            </a:r>
            <a:r>
              <a:rPr lang="tr-TR" b="1" dirty="0" err="1"/>
              <a:t>Yetenek_Skoru</a:t>
            </a:r>
            <a:r>
              <a:rPr lang="tr-TR" dirty="0"/>
              <a:t>, gerekli toplam beceri karmaşıklığını ölçer. </a:t>
            </a:r>
            <a:r>
              <a:rPr lang="tr-TR" b="1" dirty="0"/>
              <a:t>Ai_Otomasyon_Oranı_2030</a:t>
            </a:r>
            <a:r>
              <a:rPr lang="tr-TR" dirty="0"/>
              <a:t> (0-1), 2030'a kadar otomasyon olasılığını tahmin eder. </a:t>
            </a:r>
            <a:r>
              <a:rPr lang="tr-TR" b="1" dirty="0" err="1"/>
              <a:t>Risk_Kategorisi</a:t>
            </a:r>
            <a:r>
              <a:rPr lang="tr-TR" dirty="0"/>
              <a:t> ise bu olasılığı "Düşük", "Orta" ve "Yüksek" risk sınıflarına ayırarak okunabilirliği artırır. Birlikte, kariyer planlaması ve işgücü stratejileri için temel bir analiz çerçevesi sunarlar.</a:t>
            </a:r>
          </a:p>
          <a:p>
            <a:br>
              <a:rPr lang="tr-TR" dirty="0"/>
            </a:br>
            <a:endParaRPr lang="tr-TR" dirty="0"/>
          </a:p>
        </p:txBody>
      </p:sp>
    </p:spTree>
    <p:extLst>
      <p:ext uri="{BB962C8B-B14F-4D97-AF65-F5344CB8AC3E}">
        <p14:creationId xmlns:p14="http://schemas.microsoft.com/office/powerpoint/2010/main" val="176605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8FC10F5-69CA-6598-4189-181639ECBE92}"/>
              </a:ext>
            </a:extLst>
          </p:cNvPr>
          <p:cNvSpPr>
            <a:spLocks noGrp="1"/>
          </p:cNvSpPr>
          <p:nvPr>
            <p:ph type="title"/>
          </p:nvPr>
        </p:nvSpPr>
        <p:spPr/>
        <p:txBody>
          <a:bodyPr/>
          <a:lstStyle/>
          <a:p>
            <a:r>
              <a:rPr lang="tr-TR" dirty="0"/>
              <a:t>2.Adım:Veri Anlayışı</a:t>
            </a:r>
          </a:p>
        </p:txBody>
      </p:sp>
      <p:pic>
        <p:nvPicPr>
          <p:cNvPr id="5" name="İçerik Yer Tutucusu 4">
            <a:extLst>
              <a:ext uri="{FF2B5EF4-FFF2-40B4-BE49-F238E27FC236}">
                <a16:creationId xmlns:a16="http://schemas.microsoft.com/office/drawing/2014/main" id="{A24DB37A-5542-E0B8-72C8-7AE2CD2A5ADC}"/>
              </a:ext>
            </a:extLst>
          </p:cNvPr>
          <p:cNvPicPr>
            <a:picLocks noGrp="1" noChangeAspect="1"/>
          </p:cNvPicPr>
          <p:nvPr>
            <p:ph idx="1"/>
          </p:nvPr>
        </p:nvPicPr>
        <p:blipFill>
          <a:blip r:embed="rId2"/>
          <a:stretch>
            <a:fillRect/>
          </a:stretch>
        </p:blipFill>
        <p:spPr>
          <a:xfrm>
            <a:off x="7560245" y="2117968"/>
            <a:ext cx="3724374" cy="2622063"/>
          </a:xfrm>
          <a:prstGeom prst="rect">
            <a:avLst/>
          </a:prstGeom>
        </p:spPr>
      </p:pic>
      <p:sp>
        <p:nvSpPr>
          <p:cNvPr id="6" name="Metin kutusu 5">
            <a:extLst>
              <a:ext uri="{FF2B5EF4-FFF2-40B4-BE49-F238E27FC236}">
                <a16:creationId xmlns:a16="http://schemas.microsoft.com/office/drawing/2014/main" id="{1865F17D-314C-6FAC-011A-FF031AD35A6F}"/>
              </a:ext>
            </a:extLst>
          </p:cNvPr>
          <p:cNvSpPr txBox="1"/>
          <p:nvPr/>
        </p:nvSpPr>
        <p:spPr>
          <a:xfrm>
            <a:off x="1310221" y="2263482"/>
            <a:ext cx="5376421" cy="1200329"/>
          </a:xfrm>
          <a:prstGeom prst="rect">
            <a:avLst/>
          </a:prstGeom>
          <a:noFill/>
        </p:spPr>
        <p:txBody>
          <a:bodyPr wrap="square" rtlCol="0">
            <a:spAutoFit/>
          </a:bodyPr>
          <a:lstStyle/>
          <a:p>
            <a:r>
              <a:rPr lang="tr-TR" dirty="0"/>
              <a:t>Burada data setindeki sütunlar ve datanın boş olup olmadığını, datanın türünü öğrendik, hangi meslekte kaç kişi olduğunu ve hangi alanda kaç kişi olduğunu tespit ettik.</a:t>
            </a:r>
          </a:p>
        </p:txBody>
      </p:sp>
      <p:pic>
        <p:nvPicPr>
          <p:cNvPr id="4" name="Resim 3">
            <a:extLst>
              <a:ext uri="{FF2B5EF4-FFF2-40B4-BE49-F238E27FC236}">
                <a16:creationId xmlns:a16="http://schemas.microsoft.com/office/drawing/2014/main" id="{2BC71923-1EB5-F511-0BFF-8F6F5EF5BCBB}"/>
              </a:ext>
            </a:extLst>
          </p:cNvPr>
          <p:cNvPicPr>
            <a:picLocks noChangeAspect="1"/>
          </p:cNvPicPr>
          <p:nvPr/>
        </p:nvPicPr>
        <p:blipFill>
          <a:blip r:embed="rId3"/>
          <a:stretch>
            <a:fillRect/>
          </a:stretch>
        </p:blipFill>
        <p:spPr>
          <a:xfrm>
            <a:off x="1097280" y="3564776"/>
            <a:ext cx="1828958" cy="2613887"/>
          </a:xfrm>
          <a:prstGeom prst="rect">
            <a:avLst/>
          </a:prstGeom>
        </p:spPr>
      </p:pic>
      <p:pic>
        <p:nvPicPr>
          <p:cNvPr id="8" name="Resim 7">
            <a:extLst>
              <a:ext uri="{FF2B5EF4-FFF2-40B4-BE49-F238E27FC236}">
                <a16:creationId xmlns:a16="http://schemas.microsoft.com/office/drawing/2014/main" id="{D631AB13-C78D-2CA9-D0D3-D5C6D8574096}"/>
              </a:ext>
            </a:extLst>
          </p:cNvPr>
          <p:cNvPicPr>
            <a:picLocks noChangeAspect="1"/>
          </p:cNvPicPr>
          <p:nvPr/>
        </p:nvPicPr>
        <p:blipFill>
          <a:blip r:embed="rId4"/>
          <a:stretch>
            <a:fillRect/>
          </a:stretch>
        </p:blipFill>
        <p:spPr>
          <a:xfrm>
            <a:off x="4044694" y="3865792"/>
            <a:ext cx="2072820" cy="2011854"/>
          </a:xfrm>
          <a:prstGeom prst="rect">
            <a:avLst/>
          </a:prstGeom>
        </p:spPr>
      </p:pic>
    </p:spTree>
    <p:extLst>
      <p:ext uri="{BB962C8B-B14F-4D97-AF65-F5344CB8AC3E}">
        <p14:creationId xmlns:p14="http://schemas.microsoft.com/office/powerpoint/2010/main" val="3521933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E4F78-4F38-F1F7-F97D-21CC842F848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F5F95EA-0C2C-F7B6-3D13-19152193BE49}"/>
              </a:ext>
            </a:extLst>
          </p:cNvPr>
          <p:cNvSpPr>
            <a:spLocks noGrp="1"/>
          </p:cNvSpPr>
          <p:nvPr>
            <p:ph type="title"/>
          </p:nvPr>
        </p:nvSpPr>
        <p:spPr/>
        <p:txBody>
          <a:bodyPr/>
          <a:lstStyle/>
          <a:p>
            <a:r>
              <a:rPr lang="tr-TR" dirty="0"/>
              <a:t>2.Adım:Veri Anlayışı</a:t>
            </a:r>
          </a:p>
        </p:txBody>
      </p:sp>
      <p:pic>
        <p:nvPicPr>
          <p:cNvPr id="8" name="Resim 7">
            <a:extLst>
              <a:ext uri="{FF2B5EF4-FFF2-40B4-BE49-F238E27FC236}">
                <a16:creationId xmlns:a16="http://schemas.microsoft.com/office/drawing/2014/main" id="{FADABA05-E79D-3B7F-5803-DD3FD85C3C8A}"/>
              </a:ext>
            </a:extLst>
          </p:cNvPr>
          <p:cNvPicPr>
            <a:picLocks noChangeAspect="1"/>
          </p:cNvPicPr>
          <p:nvPr/>
        </p:nvPicPr>
        <p:blipFill>
          <a:blip r:embed="rId2"/>
          <a:stretch>
            <a:fillRect/>
          </a:stretch>
        </p:blipFill>
        <p:spPr>
          <a:xfrm>
            <a:off x="416166" y="2451912"/>
            <a:ext cx="4717189" cy="1729890"/>
          </a:xfrm>
          <a:prstGeom prst="rect">
            <a:avLst/>
          </a:prstGeom>
        </p:spPr>
      </p:pic>
      <p:sp>
        <p:nvSpPr>
          <p:cNvPr id="9" name="Metin kutusu 8">
            <a:extLst>
              <a:ext uri="{FF2B5EF4-FFF2-40B4-BE49-F238E27FC236}">
                <a16:creationId xmlns:a16="http://schemas.microsoft.com/office/drawing/2014/main" id="{67E2E327-B27F-988F-3DDE-370E6299C6ED}"/>
              </a:ext>
            </a:extLst>
          </p:cNvPr>
          <p:cNvSpPr txBox="1"/>
          <p:nvPr/>
        </p:nvSpPr>
        <p:spPr>
          <a:xfrm>
            <a:off x="5969848" y="1981200"/>
            <a:ext cx="5917746" cy="4401205"/>
          </a:xfrm>
          <a:prstGeom prst="rect">
            <a:avLst/>
          </a:prstGeom>
          <a:noFill/>
        </p:spPr>
        <p:txBody>
          <a:bodyPr wrap="square" rtlCol="0">
            <a:spAutoFit/>
          </a:bodyPr>
          <a:lstStyle/>
          <a:p>
            <a:r>
              <a:rPr lang="tr-TR" sz="1400" b="1" dirty="0"/>
              <a:t>Count</a:t>
            </a:r>
            <a:r>
              <a:rPr lang="tr-TR" sz="1400" dirty="0"/>
              <a:t> eksik veri olup olmadığını gösterir ve bizim kodumuzda eksik veri yok</a:t>
            </a:r>
          </a:p>
          <a:p>
            <a:r>
              <a:rPr lang="tr-TR" sz="1400" b="1" dirty="0"/>
              <a:t>Mean</a:t>
            </a:r>
            <a:r>
              <a:rPr lang="tr-TR" sz="1400" dirty="0"/>
              <a:t> her sütundaki ortalama değerini gösterir</a:t>
            </a:r>
          </a:p>
          <a:p>
            <a:r>
              <a:rPr lang="tr-TR" sz="1400" dirty="0"/>
              <a:t>Maaş: ~86.065</a:t>
            </a:r>
          </a:p>
          <a:p>
            <a:r>
              <a:rPr lang="tr-TR" sz="1400" dirty="0"/>
              <a:t>Deneyim: ~15 yıl</a:t>
            </a:r>
          </a:p>
          <a:p>
            <a:r>
              <a:rPr lang="tr-TR" sz="1400" dirty="0" err="1"/>
              <a:t>Skill</a:t>
            </a:r>
            <a:r>
              <a:rPr lang="tr-TR" sz="1400" dirty="0"/>
              <a:t> sütunları: ~0.5 civarı → beceriler dengeli dağılmış</a:t>
            </a:r>
          </a:p>
          <a:p>
            <a:r>
              <a:rPr lang="tr-TR" sz="1400" b="1" dirty="0" err="1"/>
              <a:t>Std</a:t>
            </a:r>
            <a:r>
              <a:rPr lang="tr-TR" sz="1400" dirty="0"/>
              <a:t> standart sapmayı yani verinin ortalamadan ne kadar dağıldığını gösterir.</a:t>
            </a:r>
          </a:p>
          <a:p>
            <a:r>
              <a:rPr lang="tr-TR" sz="1400" dirty="0"/>
              <a:t>Maaşta sapma yüksek → maaşlar arasında ciddi farklar var.</a:t>
            </a:r>
          </a:p>
          <a:p>
            <a:r>
              <a:rPr lang="tr-TR" sz="1400" dirty="0" err="1"/>
              <a:t>Skill’lerde</a:t>
            </a:r>
            <a:r>
              <a:rPr lang="tr-TR" sz="1400" dirty="0"/>
              <a:t> sapma düşük → değerler 0–1 aralığında kontrollü.</a:t>
            </a:r>
          </a:p>
          <a:p>
            <a:r>
              <a:rPr lang="tr-TR" sz="1400" b="1" dirty="0"/>
              <a:t>Min. </a:t>
            </a:r>
            <a:r>
              <a:rPr lang="tr-TR" sz="1400" dirty="0"/>
              <a:t>En küçük değeri gösterir burada maaş 30060 diğerleri hep 0</a:t>
            </a:r>
          </a:p>
          <a:p>
            <a:r>
              <a:rPr lang="tr-TR" sz="1400" b="1" dirty="0"/>
              <a:t>25% </a:t>
            </a:r>
            <a:r>
              <a:rPr lang="tr-TR" sz="1400" dirty="0"/>
              <a:t>(1. çeyrek) Verinin %25’i bu değerin altında</a:t>
            </a:r>
          </a:p>
          <a:p>
            <a:r>
              <a:rPr lang="tr-TR" sz="1400" dirty="0"/>
              <a:t>Maaş: ~54.774 ve Deneyim: 8 yıl</a:t>
            </a:r>
          </a:p>
          <a:p>
            <a:r>
              <a:rPr lang="tr-TR" sz="1400" b="1" dirty="0"/>
              <a:t>50%</a:t>
            </a:r>
            <a:r>
              <a:rPr lang="tr-TR" sz="1400" dirty="0"/>
              <a:t> (Medyan / Ortanca) Verinin tam ortası</a:t>
            </a:r>
          </a:p>
          <a:p>
            <a:r>
              <a:rPr lang="tr-TR" sz="1400" dirty="0"/>
              <a:t>Maaş: ~84.962 ve Deneyim: 15 yıl</a:t>
            </a:r>
            <a:br>
              <a:rPr lang="tr-TR" sz="1400" dirty="0"/>
            </a:br>
            <a:r>
              <a:rPr lang="tr-TR" sz="1400" dirty="0"/>
              <a:t>→ Ortalama ile medyan yakın → aşırı çarpıklık yok</a:t>
            </a:r>
          </a:p>
          <a:p>
            <a:r>
              <a:rPr lang="tr-TR" sz="1400" b="1" dirty="0"/>
              <a:t>75% </a:t>
            </a:r>
            <a:r>
              <a:rPr lang="tr-TR" sz="1400" dirty="0"/>
              <a:t>(3. çeyrek) Verinin %75’i bu değerin altında</a:t>
            </a:r>
          </a:p>
          <a:p>
            <a:r>
              <a:rPr lang="tr-TR" sz="1400" dirty="0"/>
              <a:t>Maaş: ~115.495 ve Deneyim: 23 yıl</a:t>
            </a:r>
          </a:p>
          <a:p>
            <a:r>
              <a:rPr lang="tr-TR" sz="1400" b="1" dirty="0" err="1"/>
              <a:t>Max</a:t>
            </a:r>
            <a:r>
              <a:rPr lang="tr-TR" sz="1400" b="1" dirty="0"/>
              <a:t> </a:t>
            </a:r>
            <a:r>
              <a:rPr lang="tr-TR" sz="1400" dirty="0"/>
              <a:t>En yüksek değer</a:t>
            </a:r>
          </a:p>
          <a:p>
            <a:r>
              <a:rPr lang="tr-TR" sz="1400" dirty="0"/>
              <a:t>Maaş: ~149.798  Deneyim: 29 yıl  </a:t>
            </a:r>
            <a:r>
              <a:rPr lang="tr-TR" sz="1400" dirty="0" err="1"/>
              <a:t>Skill’ler</a:t>
            </a:r>
            <a:r>
              <a:rPr lang="tr-TR" sz="1400" dirty="0"/>
              <a:t>: 1 (maksimum seviye)</a:t>
            </a:r>
          </a:p>
          <a:p>
            <a:endParaRPr lang="tr-TR" sz="1400" dirty="0"/>
          </a:p>
          <a:p>
            <a:endParaRPr lang="tr-TR" sz="1400" dirty="0"/>
          </a:p>
        </p:txBody>
      </p:sp>
    </p:spTree>
    <p:extLst>
      <p:ext uri="{BB962C8B-B14F-4D97-AF65-F5344CB8AC3E}">
        <p14:creationId xmlns:p14="http://schemas.microsoft.com/office/powerpoint/2010/main" val="2403184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4F82CE9-7749-4D6E-A704-2A6DC43976C1}"/>
              </a:ext>
            </a:extLst>
          </p:cNvPr>
          <p:cNvSpPr>
            <a:spLocks noGrp="1"/>
          </p:cNvSpPr>
          <p:nvPr>
            <p:ph type="title"/>
          </p:nvPr>
        </p:nvSpPr>
        <p:spPr/>
        <p:txBody>
          <a:bodyPr/>
          <a:lstStyle/>
          <a:p>
            <a:r>
              <a:rPr lang="tr-TR" dirty="0"/>
              <a:t>3.Adım:Veri Hazırlama</a:t>
            </a:r>
          </a:p>
        </p:txBody>
      </p:sp>
      <p:sp>
        <p:nvSpPr>
          <p:cNvPr id="3" name="İçerik Yer Tutucusu 2">
            <a:extLst>
              <a:ext uri="{FF2B5EF4-FFF2-40B4-BE49-F238E27FC236}">
                <a16:creationId xmlns:a16="http://schemas.microsoft.com/office/drawing/2014/main" id="{52429BA0-6427-847A-21F3-0D0BF47F6D91}"/>
              </a:ext>
            </a:extLst>
          </p:cNvPr>
          <p:cNvSpPr>
            <a:spLocks noGrp="1"/>
          </p:cNvSpPr>
          <p:nvPr>
            <p:ph idx="1"/>
          </p:nvPr>
        </p:nvSpPr>
        <p:spPr>
          <a:xfrm>
            <a:off x="868680" y="1976873"/>
            <a:ext cx="10515600" cy="624087"/>
          </a:xfrm>
        </p:spPr>
        <p:txBody>
          <a:bodyPr>
            <a:normAutofit/>
          </a:bodyPr>
          <a:lstStyle/>
          <a:p>
            <a:r>
              <a:rPr lang="tr-TR" sz="2000" dirty="0"/>
              <a:t>Amaç: Veriyi temizlemek, yeni özellikler üretmek ve modele uygun hale getirmek.</a:t>
            </a:r>
          </a:p>
        </p:txBody>
      </p:sp>
      <p:sp>
        <p:nvSpPr>
          <p:cNvPr id="4" name="Metin kutusu 3">
            <a:extLst>
              <a:ext uri="{FF2B5EF4-FFF2-40B4-BE49-F238E27FC236}">
                <a16:creationId xmlns:a16="http://schemas.microsoft.com/office/drawing/2014/main" id="{5030C222-7775-8AF1-8107-6DB25139B14F}"/>
              </a:ext>
            </a:extLst>
          </p:cNvPr>
          <p:cNvSpPr txBox="1"/>
          <p:nvPr/>
        </p:nvSpPr>
        <p:spPr>
          <a:xfrm>
            <a:off x="1097280" y="2600960"/>
            <a:ext cx="9641840" cy="3693319"/>
          </a:xfrm>
          <a:prstGeom prst="rect">
            <a:avLst/>
          </a:prstGeom>
          <a:noFill/>
        </p:spPr>
        <p:txBody>
          <a:bodyPr wrap="square" rtlCol="0">
            <a:spAutoFit/>
          </a:bodyPr>
          <a:lstStyle/>
          <a:p>
            <a:pPr marL="285750" indent="-285750">
              <a:buFont typeface="Arial" panose="020B0604020202020204" pitchFamily="34" charset="0"/>
              <a:buChar char="•"/>
            </a:pPr>
            <a:r>
              <a:rPr lang="tr-TR" dirty="0"/>
              <a:t>Bu kodda skill_1….skill_10 verileri toplanarak yetenek skoru olarak yeniden atandı</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dirty="0"/>
              <a:t>Kodun daha çok anlaşılmasını sağlamak için veriler Türkçeleştirildi</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dirty="0"/>
              <a:t>Meslekler kategorileştirildi artık daha toplu bakılabilecek</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dirty="0"/>
              <a:t>Kategori bazlı otomasyon riski grafiğe döküldü</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dirty="0"/>
              <a:t>AI Maruziyeti analizi yapıldı</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r>
              <a:rPr lang="tr-TR" dirty="0"/>
              <a:t> Maruziyet </a:t>
            </a:r>
            <a:r>
              <a:rPr lang="tr-TR" dirty="0" err="1"/>
              <a:t>vs</a:t>
            </a:r>
            <a:r>
              <a:rPr lang="tr-TR" dirty="0"/>
              <a:t> Otomasyon Karşılaştırması yapıldı</a:t>
            </a:r>
          </a:p>
          <a:p>
            <a:pPr marL="285750" indent="-285750">
              <a:buFont typeface="Arial" panose="020B0604020202020204" pitchFamily="34" charset="0"/>
              <a:buChar char="•"/>
            </a:pPr>
            <a:endParaRPr lang="tr-TR" dirty="0"/>
          </a:p>
          <a:p>
            <a:pPr marL="285750" indent="-285750">
              <a:buFont typeface="Arial" panose="020B0604020202020204" pitchFamily="34" charset="0"/>
              <a:buChar char="•"/>
            </a:pPr>
            <a:endParaRPr lang="tr-TR" dirty="0"/>
          </a:p>
        </p:txBody>
      </p:sp>
    </p:spTree>
    <p:extLst>
      <p:ext uri="{BB962C8B-B14F-4D97-AF65-F5344CB8AC3E}">
        <p14:creationId xmlns:p14="http://schemas.microsoft.com/office/powerpoint/2010/main" val="3106243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2FECA2D-ED27-AAB1-2716-49DF6203CF7A}"/>
              </a:ext>
            </a:extLst>
          </p:cNvPr>
          <p:cNvSpPr>
            <a:spLocks noGrp="1"/>
          </p:cNvSpPr>
          <p:nvPr>
            <p:ph type="title"/>
          </p:nvPr>
        </p:nvSpPr>
        <p:spPr/>
        <p:txBody>
          <a:bodyPr/>
          <a:lstStyle/>
          <a:p>
            <a:r>
              <a:rPr lang="tr-TR" dirty="0"/>
              <a:t>3.Adım:Veri Hazırlama</a:t>
            </a:r>
          </a:p>
        </p:txBody>
      </p:sp>
      <p:pic>
        <p:nvPicPr>
          <p:cNvPr id="5" name="İçerik Yer Tutucusu 4">
            <a:extLst>
              <a:ext uri="{FF2B5EF4-FFF2-40B4-BE49-F238E27FC236}">
                <a16:creationId xmlns:a16="http://schemas.microsoft.com/office/drawing/2014/main" id="{D79F648B-C6C5-BF69-7C10-E34829D82EBD}"/>
              </a:ext>
            </a:extLst>
          </p:cNvPr>
          <p:cNvPicPr>
            <a:picLocks noGrp="1" noChangeAspect="1"/>
          </p:cNvPicPr>
          <p:nvPr>
            <p:ph idx="1"/>
          </p:nvPr>
        </p:nvPicPr>
        <p:blipFill>
          <a:blip r:embed="rId2"/>
          <a:stretch>
            <a:fillRect/>
          </a:stretch>
        </p:blipFill>
        <p:spPr>
          <a:xfrm>
            <a:off x="838200" y="1951348"/>
            <a:ext cx="6835219" cy="4112493"/>
          </a:xfrm>
          <a:prstGeom prst="rect">
            <a:avLst/>
          </a:prstGeom>
        </p:spPr>
      </p:pic>
      <p:sp>
        <p:nvSpPr>
          <p:cNvPr id="6" name="Metin kutusu 5">
            <a:extLst>
              <a:ext uri="{FF2B5EF4-FFF2-40B4-BE49-F238E27FC236}">
                <a16:creationId xmlns:a16="http://schemas.microsoft.com/office/drawing/2014/main" id="{6FC0689B-EFB5-0DE2-A3F4-D2D9A24E9905}"/>
              </a:ext>
            </a:extLst>
          </p:cNvPr>
          <p:cNvSpPr txBox="1"/>
          <p:nvPr/>
        </p:nvSpPr>
        <p:spPr>
          <a:xfrm>
            <a:off x="7965649" y="2064470"/>
            <a:ext cx="3544479" cy="923330"/>
          </a:xfrm>
          <a:prstGeom prst="rect">
            <a:avLst/>
          </a:prstGeom>
          <a:noFill/>
        </p:spPr>
        <p:txBody>
          <a:bodyPr wrap="square" rtlCol="0">
            <a:spAutoFit/>
          </a:bodyPr>
          <a:lstStyle/>
          <a:p>
            <a:r>
              <a:rPr lang="tr-TR" dirty="0"/>
              <a:t>Resimde İngilizce sütunları Türkçeye çevirdik ayrıca verilerin etiketini de çevirdik .</a:t>
            </a:r>
          </a:p>
        </p:txBody>
      </p:sp>
    </p:spTree>
    <p:extLst>
      <p:ext uri="{BB962C8B-B14F-4D97-AF65-F5344CB8AC3E}">
        <p14:creationId xmlns:p14="http://schemas.microsoft.com/office/powerpoint/2010/main" val="2674036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67FC8A1-20CE-FA62-9B98-03D0DE9CBDCB}"/>
              </a:ext>
            </a:extLst>
          </p:cNvPr>
          <p:cNvSpPr>
            <a:spLocks noGrp="1"/>
          </p:cNvSpPr>
          <p:nvPr>
            <p:ph type="title"/>
          </p:nvPr>
        </p:nvSpPr>
        <p:spPr/>
        <p:txBody>
          <a:bodyPr/>
          <a:lstStyle/>
          <a:p>
            <a:r>
              <a:rPr lang="tr-TR" dirty="0"/>
              <a:t>3.Adım:Veri Hazırlama</a:t>
            </a:r>
          </a:p>
        </p:txBody>
      </p:sp>
      <p:pic>
        <p:nvPicPr>
          <p:cNvPr id="5" name="İçerik Yer Tutucusu 4">
            <a:extLst>
              <a:ext uri="{FF2B5EF4-FFF2-40B4-BE49-F238E27FC236}">
                <a16:creationId xmlns:a16="http://schemas.microsoft.com/office/drawing/2014/main" id="{1F7410F6-8049-2FEB-0322-5FED6A0C1D7C}"/>
              </a:ext>
            </a:extLst>
          </p:cNvPr>
          <p:cNvPicPr>
            <a:picLocks noGrp="1" noChangeAspect="1"/>
          </p:cNvPicPr>
          <p:nvPr>
            <p:ph idx="1"/>
          </p:nvPr>
        </p:nvPicPr>
        <p:blipFill>
          <a:blip r:embed="rId2"/>
          <a:stretch>
            <a:fillRect/>
          </a:stretch>
        </p:blipFill>
        <p:spPr>
          <a:xfrm>
            <a:off x="610503" y="2107248"/>
            <a:ext cx="6637595" cy="3375953"/>
          </a:xfrm>
          <a:prstGeom prst="rect">
            <a:avLst/>
          </a:prstGeom>
        </p:spPr>
      </p:pic>
      <p:sp>
        <p:nvSpPr>
          <p:cNvPr id="6" name="Metin kutusu 5">
            <a:extLst>
              <a:ext uri="{FF2B5EF4-FFF2-40B4-BE49-F238E27FC236}">
                <a16:creationId xmlns:a16="http://schemas.microsoft.com/office/drawing/2014/main" id="{342B4112-E0A8-3A9C-8E9D-1D84568AD882}"/>
              </a:ext>
            </a:extLst>
          </p:cNvPr>
          <p:cNvSpPr txBox="1"/>
          <p:nvPr/>
        </p:nvSpPr>
        <p:spPr>
          <a:xfrm>
            <a:off x="7698766" y="2423422"/>
            <a:ext cx="3733015" cy="3139321"/>
          </a:xfrm>
          <a:prstGeom prst="rect">
            <a:avLst/>
          </a:prstGeom>
          <a:noFill/>
        </p:spPr>
        <p:txBody>
          <a:bodyPr wrap="square" rtlCol="0">
            <a:spAutoFit/>
          </a:bodyPr>
          <a:lstStyle/>
          <a:p>
            <a:r>
              <a:rPr lang="tr-TR" dirty="0"/>
              <a:t>Burada bizim amacımızın yapay zekânın hangi meslekleri ne kadar etkileyeceğini bulmak bu yüzden verilerin daha toplu olması için ayrıca gürültüyü azaltıp genelleme yaparak meslekleri kategorilere ayırdık.</a:t>
            </a:r>
          </a:p>
          <a:p>
            <a:endParaRPr lang="tr-TR" dirty="0"/>
          </a:p>
          <a:p>
            <a:r>
              <a:rPr lang="tr-TR" dirty="0"/>
              <a:t>Daha sonra ‘meslek’ sütununun yanına koyduk ki takip etmesi kolay olsun</a:t>
            </a:r>
          </a:p>
          <a:p>
            <a:endParaRPr lang="tr-TR" dirty="0"/>
          </a:p>
        </p:txBody>
      </p:sp>
    </p:spTree>
    <p:extLst>
      <p:ext uri="{BB962C8B-B14F-4D97-AF65-F5344CB8AC3E}">
        <p14:creationId xmlns:p14="http://schemas.microsoft.com/office/powerpoint/2010/main" val="740783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FF16015-C7B9-E4BD-3386-B2254833B603}"/>
              </a:ext>
            </a:extLst>
          </p:cNvPr>
          <p:cNvSpPr>
            <a:spLocks noGrp="1"/>
          </p:cNvSpPr>
          <p:nvPr>
            <p:ph type="title"/>
          </p:nvPr>
        </p:nvSpPr>
        <p:spPr/>
        <p:txBody>
          <a:bodyPr/>
          <a:lstStyle/>
          <a:p>
            <a:r>
              <a:rPr lang="tr-TR" dirty="0"/>
              <a:t>3.Adım:Veri Hazırlama</a:t>
            </a:r>
          </a:p>
        </p:txBody>
      </p:sp>
      <p:pic>
        <p:nvPicPr>
          <p:cNvPr id="7" name="İçerik Yer Tutucusu 6">
            <a:extLst>
              <a:ext uri="{FF2B5EF4-FFF2-40B4-BE49-F238E27FC236}">
                <a16:creationId xmlns:a16="http://schemas.microsoft.com/office/drawing/2014/main" id="{320132D3-A699-5C47-0D59-8862322B8A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92849" y="1604784"/>
            <a:ext cx="3949487" cy="4225031"/>
          </a:xfrm>
        </p:spPr>
      </p:pic>
      <p:pic>
        <p:nvPicPr>
          <p:cNvPr id="5" name="Resim 4">
            <a:extLst>
              <a:ext uri="{FF2B5EF4-FFF2-40B4-BE49-F238E27FC236}">
                <a16:creationId xmlns:a16="http://schemas.microsoft.com/office/drawing/2014/main" id="{D523C851-E9E7-535D-CE59-4EB69962BD0A}"/>
              </a:ext>
            </a:extLst>
          </p:cNvPr>
          <p:cNvPicPr>
            <a:picLocks noChangeAspect="1"/>
          </p:cNvPicPr>
          <p:nvPr/>
        </p:nvPicPr>
        <p:blipFill>
          <a:blip r:embed="rId3"/>
          <a:stretch>
            <a:fillRect/>
          </a:stretch>
        </p:blipFill>
        <p:spPr>
          <a:xfrm>
            <a:off x="649664" y="2022148"/>
            <a:ext cx="6431837" cy="1341236"/>
          </a:xfrm>
          <a:prstGeom prst="rect">
            <a:avLst/>
          </a:prstGeom>
        </p:spPr>
      </p:pic>
      <p:sp>
        <p:nvSpPr>
          <p:cNvPr id="8" name="Metin kutusu 7">
            <a:extLst>
              <a:ext uri="{FF2B5EF4-FFF2-40B4-BE49-F238E27FC236}">
                <a16:creationId xmlns:a16="http://schemas.microsoft.com/office/drawing/2014/main" id="{0C8904CF-ACDC-694D-B6C7-74DBF93D2FE2}"/>
              </a:ext>
            </a:extLst>
          </p:cNvPr>
          <p:cNvSpPr txBox="1"/>
          <p:nvPr/>
        </p:nvSpPr>
        <p:spPr>
          <a:xfrm>
            <a:off x="933254" y="3648173"/>
            <a:ext cx="5162746" cy="2308324"/>
          </a:xfrm>
          <a:prstGeom prst="rect">
            <a:avLst/>
          </a:prstGeom>
          <a:noFill/>
        </p:spPr>
        <p:txBody>
          <a:bodyPr wrap="square" rtlCol="0">
            <a:spAutoFit/>
          </a:bodyPr>
          <a:lstStyle/>
          <a:p>
            <a:r>
              <a:rPr lang="tr-TR" dirty="0"/>
              <a:t>Meslek ile otomasyon oranını karşılaştırdım çünkü masa başı işlerin mi yoksa güç temelli işlerin mi daha çok otomasyona uğrayacağını göstermek istedim burada perakende lojistik ve inşaat sektörü gibi daha çok fiziksel güç kullanan sektörler daha fazla otomasyona uğrayacak ama akademi ve ar-</a:t>
            </a:r>
            <a:r>
              <a:rPr lang="tr-TR" dirty="0" err="1"/>
              <a:t>ge</a:t>
            </a:r>
            <a:r>
              <a:rPr lang="tr-TR" dirty="0"/>
              <a:t> eğitim ile sağlık gibi masa başı işler daha az otomasyona uğrayacak 2030 da.</a:t>
            </a:r>
          </a:p>
        </p:txBody>
      </p:sp>
    </p:spTree>
    <p:extLst>
      <p:ext uri="{BB962C8B-B14F-4D97-AF65-F5344CB8AC3E}">
        <p14:creationId xmlns:p14="http://schemas.microsoft.com/office/powerpoint/2010/main" val="3226320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0B8F0-7147-8728-49F3-948F9EC112A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A315C92-9571-7C87-7199-96B2CFEDEFD2}"/>
              </a:ext>
            </a:extLst>
          </p:cNvPr>
          <p:cNvSpPr>
            <a:spLocks noGrp="1"/>
          </p:cNvSpPr>
          <p:nvPr>
            <p:ph type="title"/>
          </p:nvPr>
        </p:nvSpPr>
        <p:spPr/>
        <p:txBody>
          <a:bodyPr/>
          <a:lstStyle/>
          <a:p>
            <a:r>
              <a:rPr lang="tr-TR" dirty="0"/>
              <a:t>3.Adım:Veri Hazırlama</a:t>
            </a:r>
          </a:p>
        </p:txBody>
      </p:sp>
      <p:sp>
        <p:nvSpPr>
          <p:cNvPr id="8" name="Metin kutusu 7">
            <a:extLst>
              <a:ext uri="{FF2B5EF4-FFF2-40B4-BE49-F238E27FC236}">
                <a16:creationId xmlns:a16="http://schemas.microsoft.com/office/drawing/2014/main" id="{6F4651FB-EABB-14D8-CB63-1694F2B1FFBE}"/>
              </a:ext>
            </a:extLst>
          </p:cNvPr>
          <p:cNvSpPr txBox="1"/>
          <p:nvPr/>
        </p:nvSpPr>
        <p:spPr>
          <a:xfrm>
            <a:off x="933254" y="3648173"/>
            <a:ext cx="5162746" cy="2031325"/>
          </a:xfrm>
          <a:prstGeom prst="rect">
            <a:avLst/>
          </a:prstGeom>
          <a:noFill/>
        </p:spPr>
        <p:txBody>
          <a:bodyPr wrap="square" rtlCol="0">
            <a:spAutoFit/>
          </a:bodyPr>
          <a:lstStyle/>
          <a:p>
            <a:r>
              <a:rPr lang="tr-TR" dirty="0"/>
              <a:t>Burada 2030 yılında en fazla hangi sektör yapay zekaya maruz kalacak çalışması grafiği var en fazla eğitim ,pazarlama ve tasarım yaratıcılık  maruz kalıyor parkende sanayi ve </a:t>
            </a:r>
            <a:r>
              <a:rPr lang="tr-TR" dirty="0" err="1"/>
              <a:t>ui</a:t>
            </a:r>
            <a:r>
              <a:rPr lang="tr-TR" dirty="0"/>
              <a:t> </a:t>
            </a:r>
            <a:r>
              <a:rPr lang="tr-TR" dirty="0" err="1"/>
              <a:t>ux</a:t>
            </a:r>
            <a:r>
              <a:rPr lang="tr-TR" dirty="0"/>
              <a:t> gibi sektörler daha az etkileniyor çünkü yapay zeka burada .Otomasyon grafiği ile maruziyet oranı birbiriyle alakasız olduğu gözüküyor</a:t>
            </a:r>
          </a:p>
        </p:txBody>
      </p:sp>
      <p:pic>
        <p:nvPicPr>
          <p:cNvPr id="4" name="Resim 3">
            <a:extLst>
              <a:ext uri="{FF2B5EF4-FFF2-40B4-BE49-F238E27FC236}">
                <a16:creationId xmlns:a16="http://schemas.microsoft.com/office/drawing/2014/main" id="{EC25C62A-B075-4BB3-6E74-E540C7249598}"/>
              </a:ext>
            </a:extLst>
          </p:cNvPr>
          <p:cNvPicPr>
            <a:picLocks noChangeAspect="1"/>
          </p:cNvPicPr>
          <p:nvPr/>
        </p:nvPicPr>
        <p:blipFill>
          <a:blip r:embed="rId2"/>
          <a:stretch>
            <a:fillRect/>
          </a:stretch>
        </p:blipFill>
        <p:spPr>
          <a:xfrm>
            <a:off x="1215102" y="1901929"/>
            <a:ext cx="5745978" cy="1074513"/>
          </a:xfrm>
          <a:prstGeom prst="rect">
            <a:avLst/>
          </a:prstGeom>
        </p:spPr>
      </p:pic>
      <p:pic>
        <p:nvPicPr>
          <p:cNvPr id="9" name="Resim 8">
            <a:extLst>
              <a:ext uri="{FF2B5EF4-FFF2-40B4-BE49-F238E27FC236}">
                <a16:creationId xmlns:a16="http://schemas.microsoft.com/office/drawing/2014/main" id="{1558D2FE-CFE1-A602-71D3-866741352C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8349" y="1120054"/>
            <a:ext cx="4316724" cy="4617891"/>
          </a:xfrm>
          <a:prstGeom prst="rect">
            <a:avLst/>
          </a:prstGeom>
        </p:spPr>
      </p:pic>
    </p:spTree>
    <p:extLst>
      <p:ext uri="{BB962C8B-B14F-4D97-AF65-F5344CB8AC3E}">
        <p14:creationId xmlns:p14="http://schemas.microsoft.com/office/powerpoint/2010/main" val="4106020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D706E-875C-0DDE-1533-A67B55B3BF1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A43E321-90E1-4728-3C71-96DDAB6DEA39}"/>
              </a:ext>
            </a:extLst>
          </p:cNvPr>
          <p:cNvSpPr>
            <a:spLocks noGrp="1"/>
          </p:cNvSpPr>
          <p:nvPr>
            <p:ph type="title"/>
          </p:nvPr>
        </p:nvSpPr>
        <p:spPr/>
        <p:txBody>
          <a:bodyPr/>
          <a:lstStyle/>
          <a:p>
            <a:r>
              <a:rPr lang="tr-TR" dirty="0"/>
              <a:t>3.Adım:Veri Hazırlama</a:t>
            </a:r>
          </a:p>
        </p:txBody>
      </p:sp>
      <p:sp>
        <p:nvSpPr>
          <p:cNvPr id="8" name="Metin kutusu 7">
            <a:extLst>
              <a:ext uri="{FF2B5EF4-FFF2-40B4-BE49-F238E27FC236}">
                <a16:creationId xmlns:a16="http://schemas.microsoft.com/office/drawing/2014/main" id="{A8B73E5F-02C2-4AC8-89E5-2CAECD357A44}"/>
              </a:ext>
            </a:extLst>
          </p:cNvPr>
          <p:cNvSpPr txBox="1"/>
          <p:nvPr/>
        </p:nvSpPr>
        <p:spPr>
          <a:xfrm>
            <a:off x="1097280" y="3232674"/>
            <a:ext cx="5162746" cy="2585323"/>
          </a:xfrm>
          <a:prstGeom prst="rect">
            <a:avLst/>
          </a:prstGeom>
          <a:noFill/>
        </p:spPr>
        <p:txBody>
          <a:bodyPr wrap="square" rtlCol="0">
            <a:spAutoFit/>
          </a:bodyPr>
          <a:lstStyle/>
          <a:p>
            <a:r>
              <a:rPr lang="tr-TR" dirty="0"/>
              <a:t>Meslekleri kıyasladığımızda karşımıza iki temel tablo çıkıyor: </a:t>
            </a:r>
            <a:r>
              <a:rPr lang="tr-TR" b="1" dirty="0"/>
              <a:t>Eğitim ve Sağlık</a:t>
            </a:r>
            <a:r>
              <a:rPr lang="tr-TR" dirty="0"/>
              <a:t> gibi insan odaklı sektörlerde yüksek maruziyete rağmen otomasyon riski çok düşük kalıyor; bu da AI'nın bu alanlarda bir </a:t>
            </a:r>
            <a:r>
              <a:rPr lang="tr-TR" b="1" dirty="0"/>
              <a:t>'verimlilik aracı'</a:t>
            </a:r>
            <a:r>
              <a:rPr lang="tr-TR" dirty="0"/>
              <a:t> olduğunu kanıtlıyor. Öte yandan, </a:t>
            </a:r>
            <a:r>
              <a:rPr lang="tr-TR" b="1" dirty="0"/>
              <a:t>Lojistik ve İnşaat</a:t>
            </a:r>
            <a:r>
              <a:rPr lang="tr-TR" dirty="0"/>
              <a:t> gibi fiziksel sektörlerde düşük maruziyete rağmen otomasyon riskinin %80'leri bulması, AI'nın bu alanlarda insan gücünün yerini alan bir </a:t>
            </a:r>
            <a:r>
              <a:rPr lang="tr-TR" b="1" dirty="0"/>
              <a:t>'ikame güç'</a:t>
            </a:r>
            <a:r>
              <a:rPr lang="tr-TR" dirty="0"/>
              <a:t> olduğunu gösteriyor</a:t>
            </a:r>
          </a:p>
        </p:txBody>
      </p:sp>
      <p:pic>
        <p:nvPicPr>
          <p:cNvPr id="5" name="Resim 4">
            <a:extLst>
              <a:ext uri="{FF2B5EF4-FFF2-40B4-BE49-F238E27FC236}">
                <a16:creationId xmlns:a16="http://schemas.microsoft.com/office/drawing/2014/main" id="{1DF57074-4C6A-32C1-8661-9FDEF752DB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5501" y="1550953"/>
            <a:ext cx="4578426" cy="2974383"/>
          </a:xfrm>
          <a:prstGeom prst="rect">
            <a:avLst/>
          </a:prstGeom>
        </p:spPr>
      </p:pic>
      <p:pic>
        <p:nvPicPr>
          <p:cNvPr id="7" name="Resim 6">
            <a:extLst>
              <a:ext uri="{FF2B5EF4-FFF2-40B4-BE49-F238E27FC236}">
                <a16:creationId xmlns:a16="http://schemas.microsoft.com/office/drawing/2014/main" id="{D13B0EDD-949A-D2B7-0428-62762BB7D89F}"/>
              </a:ext>
            </a:extLst>
          </p:cNvPr>
          <p:cNvPicPr>
            <a:picLocks noChangeAspect="1"/>
          </p:cNvPicPr>
          <p:nvPr/>
        </p:nvPicPr>
        <p:blipFill>
          <a:blip r:embed="rId3"/>
          <a:stretch>
            <a:fillRect/>
          </a:stretch>
        </p:blipFill>
        <p:spPr>
          <a:xfrm>
            <a:off x="811334" y="2018671"/>
            <a:ext cx="6348864" cy="930595"/>
          </a:xfrm>
          <a:prstGeom prst="rect">
            <a:avLst/>
          </a:prstGeom>
        </p:spPr>
      </p:pic>
    </p:spTree>
    <p:extLst>
      <p:ext uri="{BB962C8B-B14F-4D97-AF65-F5344CB8AC3E}">
        <p14:creationId xmlns:p14="http://schemas.microsoft.com/office/powerpoint/2010/main" val="3715705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29061-0FA2-D52E-0328-F08D68B6D4E7}"/>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3507187-401F-DD9E-CFBD-8BFC8FB6E2CA}"/>
              </a:ext>
            </a:extLst>
          </p:cNvPr>
          <p:cNvSpPr>
            <a:spLocks noGrp="1"/>
          </p:cNvSpPr>
          <p:nvPr>
            <p:ph type="title"/>
          </p:nvPr>
        </p:nvSpPr>
        <p:spPr/>
        <p:txBody>
          <a:bodyPr/>
          <a:lstStyle/>
          <a:p>
            <a:r>
              <a:rPr lang="tr-TR" dirty="0"/>
              <a:t>4.Adım:Modelleme</a:t>
            </a:r>
          </a:p>
        </p:txBody>
      </p:sp>
      <p:sp>
        <p:nvSpPr>
          <p:cNvPr id="8" name="Metin kutusu 7">
            <a:extLst>
              <a:ext uri="{FF2B5EF4-FFF2-40B4-BE49-F238E27FC236}">
                <a16:creationId xmlns:a16="http://schemas.microsoft.com/office/drawing/2014/main" id="{726EA189-D6BD-FB21-E1AC-002975E29322}"/>
              </a:ext>
            </a:extLst>
          </p:cNvPr>
          <p:cNvSpPr txBox="1"/>
          <p:nvPr/>
        </p:nvSpPr>
        <p:spPr>
          <a:xfrm>
            <a:off x="6818107" y="1737360"/>
            <a:ext cx="5162746" cy="3785652"/>
          </a:xfrm>
          <a:prstGeom prst="rect">
            <a:avLst/>
          </a:prstGeom>
          <a:noFill/>
        </p:spPr>
        <p:txBody>
          <a:bodyPr wrap="square" rtlCol="0">
            <a:spAutoFit/>
          </a:bodyPr>
          <a:lstStyle/>
          <a:p>
            <a:br>
              <a:rPr lang="tr-TR" sz="1600" dirty="0"/>
            </a:br>
            <a:r>
              <a:rPr lang="tr-TR" sz="1600" dirty="0"/>
              <a:t>Bu kod bloğu, projenin ham veriyi "karar verebilen bir zekaya" dönüştürdüğü </a:t>
            </a:r>
            <a:r>
              <a:rPr lang="tr-TR" sz="1600" b="1" dirty="0"/>
              <a:t>modelleme</a:t>
            </a:r>
            <a:r>
              <a:rPr lang="tr-TR" sz="1600" dirty="0"/>
              <a:t> aşamasını temsil eder; burada ilk olarak tahmin edilecek hedef değişken (2030 Otomasyon Oranı) ile ona kaynaklık eden özellikler (maaş, deneyim, kategori vb.) birbirinden ayrılmakta, ardından farklı türdeki verileri makinenin anlayabileceği ortak bir dile çevirmek için sayısal değerler ölçeklendirilip metinler sayısal kodlara dönüştürülmektedir. Veriyi "öğrenme" ve "sınav" olarak ikiye bölerek </a:t>
            </a:r>
            <a:r>
              <a:rPr lang="tr-TR" sz="1600" b="1" dirty="0"/>
              <a:t>Lineer Regresyon</a:t>
            </a:r>
            <a:r>
              <a:rPr lang="tr-TR" sz="1600" dirty="0"/>
              <a:t> algoritmasına mesleklerin özellikleri ile risk oranları arasındaki matematiksel köprüyü kurmayı öğreten bu yapı, sonuç olarak sisteme girilen yeni bir meslek profili üzerinden gelecekteki otomasyon olasılığını bilimsel bir doğrulukla öngörebilen dijital bir tahmin mekanizması oluşturmaktadır.</a:t>
            </a:r>
          </a:p>
        </p:txBody>
      </p:sp>
      <p:pic>
        <p:nvPicPr>
          <p:cNvPr id="4" name="Resim 3">
            <a:extLst>
              <a:ext uri="{FF2B5EF4-FFF2-40B4-BE49-F238E27FC236}">
                <a16:creationId xmlns:a16="http://schemas.microsoft.com/office/drawing/2014/main" id="{F687890A-2FD4-4698-2B24-773FF4A2AF75}"/>
              </a:ext>
            </a:extLst>
          </p:cNvPr>
          <p:cNvPicPr>
            <a:picLocks noChangeAspect="1"/>
          </p:cNvPicPr>
          <p:nvPr/>
        </p:nvPicPr>
        <p:blipFill>
          <a:blip r:embed="rId2"/>
          <a:stretch>
            <a:fillRect/>
          </a:stretch>
        </p:blipFill>
        <p:spPr>
          <a:xfrm>
            <a:off x="828040" y="2114413"/>
            <a:ext cx="5760563" cy="2826064"/>
          </a:xfrm>
          <a:prstGeom prst="rect">
            <a:avLst/>
          </a:prstGeom>
        </p:spPr>
      </p:pic>
    </p:spTree>
    <p:extLst>
      <p:ext uri="{BB962C8B-B14F-4D97-AF65-F5344CB8AC3E}">
        <p14:creationId xmlns:p14="http://schemas.microsoft.com/office/powerpoint/2010/main" val="1807851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EC4BBA9-ABCE-132E-BD84-6B9DF089C613}"/>
              </a:ext>
            </a:extLst>
          </p:cNvPr>
          <p:cNvSpPr>
            <a:spLocks noGrp="1"/>
          </p:cNvSpPr>
          <p:nvPr>
            <p:ph type="title"/>
          </p:nvPr>
        </p:nvSpPr>
        <p:spPr/>
        <p:txBody>
          <a:bodyPr/>
          <a:lstStyle/>
          <a:p>
            <a:r>
              <a:rPr lang="tr-TR" dirty="0"/>
              <a:t>5.Adım:Değerlendirme</a:t>
            </a:r>
          </a:p>
        </p:txBody>
      </p:sp>
      <p:pic>
        <p:nvPicPr>
          <p:cNvPr id="5" name="İçerik Yer Tutucusu 4">
            <a:extLst>
              <a:ext uri="{FF2B5EF4-FFF2-40B4-BE49-F238E27FC236}">
                <a16:creationId xmlns:a16="http://schemas.microsoft.com/office/drawing/2014/main" id="{6D2C81A7-08B5-C763-0AED-17E964534A7C}"/>
              </a:ext>
            </a:extLst>
          </p:cNvPr>
          <p:cNvPicPr>
            <a:picLocks noGrp="1" noChangeAspect="1"/>
          </p:cNvPicPr>
          <p:nvPr>
            <p:ph idx="1"/>
          </p:nvPr>
        </p:nvPicPr>
        <p:blipFill>
          <a:blip r:embed="rId2"/>
          <a:stretch>
            <a:fillRect/>
          </a:stretch>
        </p:blipFill>
        <p:spPr>
          <a:xfrm>
            <a:off x="1023326" y="2110626"/>
            <a:ext cx="5281118" cy="1318374"/>
          </a:xfrm>
          <a:prstGeom prst="rect">
            <a:avLst/>
          </a:prstGeom>
        </p:spPr>
      </p:pic>
      <p:sp>
        <p:nvSpPr>
          <p:cNvPr id="6" name="Metin kutusu 5">
            <a:extLst>
              <a:ext uri="{FF2B5EF4-FFF2-40B4-BE49-F238E27FC236}">
                <a16:creationId xmlns:a16="http://schemas.microsoft.com/office/drawing/2014/main" id="{300E144F-1132-36F4-6E03-D4FA4498807D}"/>
              </a:ext>
            </a:extLst>
          </p:cNvPr>
          <p:cNvSpPr txBox="1"/>
          <p:nvPr/>
        </p:nvSpPr>
        <p:spPr>
          <a:xfrm>
            <a:off x="7051250" y="1932495"/>
            <a:ext cx="3685880" cy="3693319"/>
          </a:xfrm>
          <a:prstGeom prst="rect">
            <a:avLst/>
          </a:prstGeom>
          <a:noFill/>
        </p:spPr>
        <p:txBody>
          <a:bodyPr wrap="square" rtlCol="0">
            <a:spAutoFit/>
          </a:bodyPr>
          <a:lstStyle/>
          <a:p>
            <a:r>
              <a:rPr lang="tr-TR" dirty="0"/>
              <a:t>Eğittiğimiz makine öğrenmesi modeli, test verileri üzerinde </a:t>
            </a:r>
            <a:r>
              <a:rPr lang="tr-TR" b="1" dirty="0"/>
              <a:t>%84.9</a:t>
            </a:r>
            <a:r>
              <a:rPr lang="tr-TR" dirty="0"/>
              <a:t> gibi yüksek bir </a:t>
            </a:r>
            <a:r>
              <a:rPr lang="tr-TR" b="1" dirty="0"/>
              <a:t>R2 skoru</a:t>
            </a:r>
            <a:r>
              <a:rPr lang="tr-TR" dirty="0"/>
              <a:t> elde ederek mesleklerin gelecek risklerini tahmin etmede güçlü bir başarı sergilemiştir. Modelin tahminlerindeki ortalama hata payı (</a:t>
            </a:r>
            <a:r>
              <a:rPr lang="tr-TR" b="1" dirty="0"/>
              <a:t>MAE</a:t>
            </a:r>
            <a:r>
              <a:rPr lang="tr-TR" dirty="0"/>
              <a:t>) yalnızca </a:t>
            </a:r>
            <a:r>
              <a:rPr lang="tr-TR" b="1" dirty="0"/>
              <a:t>0.08</a:t>
            </a:r>
            <a:r>
              <a:rPr lang="tr-TR" dirty="0"/>
              <a:t> seviyesindedir. Bu sonuçlar, projenin temelini oluşturan verilerin ve seçilen parametrelerin, 2030 otomasyon risklerini öngörmek için bilimsel açıdan güvenilir ve tutarlı olduğunu kanıtlamaktadır</a:t>
            </a:r>
          </a:p>
        </p:txBody>
      </p:sp>
    </p:spTree>
    <p:extLst>
      <p:ext uri="{BB962C8B-B14F-4D97-AF65-F5344CB8AC3E}">
        <p14:creationId xmlns:p14="http://schemas.microsoft.com/office/powerpoint/2010/main" val="3032879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CBD40-A3F0-92B5-0A2C-81E1E5CB8C1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E72FEDF-F978-2FC3-BEB2-B8AECE14823B}"/>
              </a:ext>
            </a:extLst>
          </p:cNvPr>
          <p:cNvSpPr>
            <a:spLocks noGrp="1"/>
          </p:cNvSpPr>
          <p:nvPr>
            <p:ph type="title"/>
          </p:nvPr>
        </p:nvSpPr>
        <p:spPr/>
        <p:txBody>
          <a:bodyPr/>
          <a:lstStyle/>
          <a:p>
            <a:r>
              <a:rPr lang="tr-TR" dirty="0"/>
              <a:t>6.Adım:Raporlama</a:t>
            </a:r>
          </a:p>
        </p:txBody>
      </p:sp>
      <p:sp>
        <p:nvSpPr>
          <p:cNvPr id="6" name="Metin kutusu 5">
            <a:extLst>
              <a:ext uri="{FF2B5EF4-FFF2-40B4-BE49-F238E27FC236}">
                <a16:creationId xmlns:a16="http://schemas.microsoft.com/office/drawing/2014/main" id="{67F0746B-8129-72B6-0109-4B2EF2E47E6A}"/>
              </a:ext>
            </a:extLst>
          </p:cNvPr>
          <p:cNvSpPr txBox="1"/>
          <p:nvPr/>
        </p:nvSpPr>
        <p:spPr>
          <a:xfrm>
            <a:off x="7667920" y="1719858"/>
            <a:ext cx="3685880" cy="4401205"/>
          </a:xfrm>
          <a:prstGeom prst="rect">
            <a:avLst/>
          </a:prstGeom>
          <a:noFill/>
        </p:spPr>
        <p:txBody>
          <a:bodyPr wrap="square" rtlCol="0">
            <a:spAutoFit/>
          </a:bodyPr>
          <a:lstStyle/>
          <a:p>
            <a:br>
              <a:rPr lang="tr-TR" sz="1400" dirty="0"/>
            </a:br>
            <a:r>
              <a:rPr lang="tr-TR" sz="1400" dirty="0"/>
              <a:t>Elde edilen bu sektörel risk haritası, yapay zekanın 2030 yılındaki etkisinin işin doğasına göre nasıl keskin bir şekilde ayrıştığını somutlaştırmaktadır; grafiğe göre rutin ve fiziksel emeğin yoğun olduğu </a:t>
            </a:r>
            <a:r>
              <a:rPr lang="tr-TR" sz="1400" b="1" dirty="0"/>
              <a:t>İnşaat, Lojistik ve Perakende</a:t>
            </a:r>
            <a:r>
              <a:rPr lang="tr-TR" sz="1400" dirty="0"/>
              <a:t> gibi sektörler %80'i aşan oranlarla otomasyonun en büyük hedefi haline gelirken, insani bağ, empati ve yüksek düzeyde yaratıcılık gerektiren </a:t>
            </a:r>
            <a:r>
              <a:rPr lang="tr-TR" sz="1400" b="1" dirty="0"/>
              <a:t>Sağlık, Eğitim ve Akademi</a:t>
            </a:r>
            <a:r>
              <a:rPr lang="tr-TR" sz="1400" dirty="0"/>
              <a:t> gibi alanlar %20'nin altındaki risk seviyeleriyle geleceğin en güvenli meslek grupları olarak öne çıkmaktadır. Çubukların üzerindeki siyah çizgiler her sektör içindeki veri tutarlılığını ve tahmin güvenilirliğini temsil ederken, genel tablo bizlere yapay zekanın meslekleri tamamen yok etmekten ziyade, tekrarlanabilir görevleri devralarak iş gücünü daha zihinsel ve sosyal bir zemine kaydıracağını bilimsel bir veriyle kanıtlamaktadır.</a:t>
            </a:r>
          </a:p>
        </p:txBody>
      </p:sp>
      <p:pic>
        <p:nvPicPr>
          <p:cNvPr id="8" name="Resim 7">
            <a:extLst>
              <a:ext uri="{FF2B5EF4-FFF2-40B4-BE49-F238E27FC236}">
                <a16:creationId xmlns:a16="http://schemas.microsoft.com/office/drawing/2014/main" id="{A94723CA-ACE3-9F04-FCC1-544612FFA664}"/>
              </a:ext>
            </a:extLst>
          </p:cNvPr>
          <p:cNvPicPr>
            <a:picLocks noChangeAspect="1"/>
          </p:cNvPicPr>
          <p:nvPr/>
        </p:nvPicPr>
        <p:blipFill>
          <a:blip r:embed="rId2"/>
          <a:stretch>
            <a:fillRect/>
          </a:stretch>
        </p:blipFill>
        <p:spPr>
          <a:xfrm>
            <a:off x="406032" y="1995254"/>
            <a:ext cx="6675698" cy="1074513"/>
          </a:xfrm>
          <a:prstGeom prst="rect">
            <a:avLst/>
          </a:prstGeom>
        </p:spPr>
      </p:pic>
      <p:pic>
        <p:nvPicPr>
          <p:cNvPr id="10" name="Resim 9">
            <a:extLst>
              <a:ext uri="{FF2B5EF4-FFF2-40B4-BE49-F238E27FC236}">
                <a16:creationId xmlns:a16="http://schemas.microsoft.com/office/drawing/2014/main" id="{D036A6AA-2211-6610-3FC1-006BCBB35A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080" y="3327662"/>
            <a:ext cx="5639508" cy="2793401"/>
          </a:xfrm>
          <a:prstGeom prst="rect">
            <a:avLst/>
          </a:prstGeom>
        </p:spPr>
      </p:pic>
    </p:spTree>
    <p:extLst>
      <p:ext uri="{BB962C8B-B14F-4D97-AF65-F5344CB8AC3E}">
        <p14:creationId xmlns:p14="http://schemas.microsoft.com/office/powerpoint/2010/main" val="813234696"/>
      </p:ext>
    </p:extLst>
  </p:cSld>
  <p:clrMapOvr>
    <a:masterClrMapping/>
  </p:clrMapOvr>
</p:sld>
</file>

<file path=ppt/theme/theme1.xml><?xml version="1.0" encoding="utf-8"?>
<a:theme xmlns:a="http://schemas.openxmlformats.org/drawingml/2006/main" name="Geçmişe bakış">
  <a:themeElements>
    <a:clrScheme name="Geçmişe bakış">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Geçmişe bakış">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çmişe bakış">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252</TotalTime>
  <Words>1084</Words>
  <Application>Microsoft Office PowerPoint</Application>
  <PresentationFormat>Geniş ekran</PresentationFormat>
  <Paragraphs>69</Paragraphs>
  <Slides>15</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15</vt:i4>
      </vt:variant>
    </vt:vector>
  </HeadingPairs>
  <TitlesOfParts>
    <vt:vector size="20" baseType="lpstr">
      <vt:lpstr>Arial</vt:lpstr>
      <vt:lpstr>Calibri</vt:lpstr>
      <vt:lpstr>Calibri Light</vt:lpstr>
      <vt:lpstr>Lucida Sans</vt:lpstr>
      <vt:lpstr>Geçmişe bakış</vt:lpstr>
      <vt:lpstr>2030 Yapay Zeka  Otomasyon ve Risk Haritası </vt:lpstr>
      <vt:lpstr>Analitik Yaklaşımımız:CRISP DM </vt:lpstr>
      <vt:lpstr>1. Adım: İş Anlayışı</vt:lpstr>
      <vt:lpstr>2.Adım:Veri Anlayışı</vt:lpstr>
      <vt:lpstr>2.Adım:Veri Anlayışı</vt:lpstr>
      <vt:lpstr>2.Adım:Veri Anlayışı</vt:lpstr>
      <vt:lpstr>3.Adım:Veri Hazırlama</vt:lpstr>
      <vt:lpstr>3.Adım:Veri Hazırlama</vt:lpstr>
      <vt:lpstr>3.Adım:Veri Hazırlama</vt:lpstr>
      <vt:lpstr>3.Adım:Veri Hazırlama</vt:lpstr>
      <vt:lpstr>3.Adım:Veri Hazırlama</vt:lpstr>
      <vt:lpstr>3.Adım:Veri Hazırlama</vt:lpstr>
      <vt:lpstr>4.Adım:Modelleme</vt:lpstr>
      <vt:lpstr>5.Adım:Değerlendirme</vt:lpstr>
      <vt:lpstr>6.Adım:Raporlama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YUSUF BARAN YILDIZ</dc:creator>
  <cp:lastModifiedBy>YUSUF BARAN YILDIZ</cp:lastModifiedBy>
  <cp:revision>6</cp:revision>
  <dcterms:created xsi:type="dcterms:W3CDTF">2026-01-03T10:15:55Z</dcterms:created>
  <dcterms:modified xsi:type="dcterms:W3CDTF">2026-01-03T22:41:25Z</dcterms:modified>
</cp:coreProperties>
</file>